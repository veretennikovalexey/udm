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50" r:id="rId3"/>
    <p:sldId id="351" r:id="rId4"/>
    <p:sldId id="330" r:id="rId5"/>
    <p:sldId id="324" r:id="rId6"/>
    <p:sldId id="323" r:id="rId7"/>
    <p:sldId id="302" r:id="rId8"/>
    <p:sldId id="331" r:id="rId9"/>
    <p:sldId id="338" r:id="rId10"/>
    <p:sldId id="340" r:id="rId11"/>
    <p:sldId id="339" r:id="rId12"/>
    <p:sldId id="341" r:id="rId13"/>
    <p:sldId id="343" r:id="rId14"/>
    <p:sldId id="332" r:id="rId15"/>
    <p:sldId id="356" r:id="rId16"/>
    <p:sldId id="342" r:id="rId17"/>
    <p:sldId id="348" r:id="rId18"/>
    <p:sldId id="352" r:id="rId19"/>
    <p:sldId id="359" r:id="rId20"/>
    <p:sldId id="360" r:id="rId21"/>
    <p:sldId id="362" r:id="rId22"/>
    <p:sldId id="36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69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72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2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67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23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8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68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0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6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15EF0-1884-4BA6-8912-8D2ADC004EA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E67BD-A718-4EBD-94FF-76FC5007F8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5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39015" y="240633"/>
            <a:ext cx="1099204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Курсы удмуртского языка</a:t>
            </a:r>
          </a:p>
          <a:p>
            <a:pPr algn="ctr"/>
            <a:r>
              <a:rPr lang="ru-RU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Урок № 4. Части речи. Существительное.</a:t>
            </a: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790" y="2170263"/>
            <a:ext cx="8912995" cy="423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9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45406" y="616016"/>
            <a:ext cx="10693668" cy="5849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вылысь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сяськалэсь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будэм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Синъёсыз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кык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сь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дэсь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сутэръёс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Бамъёсыз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кык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ыжытэсь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улмоос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Чупамон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мусоесь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ымдураз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ыжытэз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пы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амын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кисьмам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узылэн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Куараез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тулыс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уй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ылэн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вылэм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мусо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нылмылэн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6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05037" y="365125"/>
            <a:ext cx="10747409" cy="5638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Ву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дуре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васькыкуз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40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4000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дьы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кожалод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сярысь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малпаса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егитъёс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лулскыло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Лобымон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бурдъяськем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ваёбыжпиослэн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Бурдъёссы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выллемесь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синкашъёс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Нош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сутэр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синъёссэ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синлысэн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ватэ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Синкашъёс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кутонтэм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лобозы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потэ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2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00515" y="269507"/>
            <a:ext cx="11069052" cy="12485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800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Прочитай и переведи</a:t>
            </a:r>
            <a:r>
              <a:rPr lang="ru-RU" sz="4800" u="sng" dirty="0" smtClean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слова: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Пи,</a:t>
            </a:r>
            <a:r>
              <a:rPr lang="ru-RU" sz="8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ук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с, ныл,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дышетӥсь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эмчи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Ӟ</a:t>
            </a: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оз,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дышетскись,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анай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корка, кар, гурт.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визьнодась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песянай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вузкарись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суредась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sz="72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/>
            <a:endParaRPr lang="ru-RU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1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673768"/>
            <a:ext cx="10673615" cy="6445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Ужбергатӥсь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эсьтӥськись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тодосчи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кылчи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уриськись.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8000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20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642" y="365125"/>
            <a:ext cx="11155680" cy="6876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Кыр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ась, 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кылбурчи,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пыжиськись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ырси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ӵышкись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гижы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утялтӥсь</a:t>
            </a: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2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838199" y="365125"/>
            <a:ext cx="10673615" cy="8876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Чылкверан</a:t>
            </a:r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4000" b="1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чистоговорка</a:t>
            </a:r>
            <a:endParaRPr lang="ru-RU" sz="4000" b="1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Ны-ны-ны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Коркамы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бӧрдэ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нуны</a:t>
            </a:r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Ни-ни-ни,</a:t>
            </a:r>
            <a:endParaRPr lang="ru-RU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Нунылэн </a:t>
            </a:r>
            <a:r>
              <a:rPr lang="ru-RU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нимыз</a:t>
            </a:r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Мани.</a:t>
            </a: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3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73768" y="365126"/>
            <a:ext cx="10838047" cy="637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 речи. Существительное.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Существительным </a:t>
            </a:r>
          </a:p>
          <a:p>
            <a:pPr algn="ctr"/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удмуртском языке свойственны категории 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числа, </a:t>
            </a:r>
            <a:endParaRPr lang="ru-RU" sz="6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падежа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притяжательности. </a:t>
            </a:r>
          </a:p>
          <a:p>
            <a:pPr algn="ctr"/>
            <a:r>
              <a:rPr lang="ru-RU" sz="6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атегория</a:t>
            </a:r>
            <a:r>
              <a:rPr lang="ru-RU" sz="6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рода отсутствует. </a:t>
            </a:r>
            <a:endParaRPr lang="ru-RU" sz="6000" b="1" dirty="0" smtClean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9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642" y="365125"/>
            <a:ext cx="1115568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Единственное 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выражается нулевой морфемой, </a:t>
            </a:r>
            <a:endParaRPr lang="ru-RU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множественное 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аффиксами: </a:t>
            </a:r>
            <a:endParaRPr lang="ru-RU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гласной основы 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-ос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согласной основы 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ёс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48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Писпу</a:t>
            </a:r>
            <a:r>
              <a:rPr lang="ru-RU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дерево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8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писпуос</a:t>
            </a:r>
            <a:r>
              <a:rPr lang="ru-RU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(деревья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ru-RU" sz="4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гурт 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деревня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гуртъёс</a:t>
            </a:r>
            <a:r>
              <a:rPr lang="ru-RU" sz="4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(деревни</a:t>
            </a:r>
            <a:r>
              <a:rPr lang="ru-RU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48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6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642" y="365125"/>
            <a:ext cx="111556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гласной основы 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–ос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осле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согласной основы </a:t>
            </a:r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ёс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72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Анай</a:t>
            </a:r>
            <a:r>
              <a:rPr lang="ru-RU" sz="7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…, </a:t>
            </a:r>
          </a:p>
          <a:p>
            <a:pPr algn="ctr"/>
            <a:r>
              <a:rPr lang="ru-RU" sz="7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пи, дышетскись, эмчи, кар, </a:t>
            </a:r>
            <a:r>
              <a:rPr lang="ru-RU" sz="72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7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удмурт.</a:t>
            </a:r>
          </a:p>
        </p:txBody>
      </p:sp>
    </p:spTree>
    <p:extLst>
      <p:ext uri="{BB962C8B-B14F-4D97-AF65-F5344CB8AC3E}">
        <p14:creationId xmlns:p14="http://schemas.microsoft.com/office/powerpoint/2010/main" val="91926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00513" y="250257"/>
            <a:ext cx="1116530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В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удмуртском языке нет существительных, употребляющихся только во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мн. ч.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имеются целые группы слов, которые употребляются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лишь в форме единственного числа. </a:t>
            </a:r>
            <a:endParaRPr lang="ru-RU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ним относятся 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вещества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поддаются измерению, но не счету (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ву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вода, 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зарни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/золото);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процессы, качества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яратон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/любовь); некоторые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ягоды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овощи, растения </a:t>
            </a:r>
          </a:p>
          <a:p>
            <a:pPr algn="just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эмезь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/малина,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боры/клубника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62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77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Заимствованные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русского языка </a:t>
            </a:r>
            <a:endParaRPr lang="ru-RU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существительные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употребляющиеся только во мн. ч., в удмуртском языке воспринимаются как слова, стоящие в ед. ч. и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приобретать аффикс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или -</a:t>
            </a:r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ёс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очки 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очкиос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некоторых случаях отсекается показатель мн. ч.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Н-р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русские слова 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весы, 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часы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удмуртском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имеют формы 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вес, 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02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93533" y="539015"/>
            <a:ext cx="962526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притяжательности </a:t>
            </a:r>
            <a:endParaRPr lang="ru-RU" sz="5400" u="sng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выражается 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различными суффиксами, обозначающими принадлежность предметов </a:t>
            </a:r>
            <a:endParaRPr lang="ru-RU" sz="5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2, 3-му лицу </a:t>
            </a:r>
            <a:endParaRPr lang="ru-RU" sz="5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единственного 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множественного числа</a:t>
            </a:r>
            <a:r>
              <a:rPr lang="ru-RU" sz="5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5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96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443789" y="481264"/>
            <a:ext cx="10068026" cy="673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ритяжательные суффиксы </a:t>
            </a:r>
            <a:r>
              <a:rPr lang="ru-RU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ед.ч</a:t>
            </a:r>
            <a:r>
              <a:rPr lang="ru-RU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4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л. </a:t>
            </a:r>
            <a:r>
              <a:rPr lang="ru-RU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мынам</a:t>
            </a:r>
            <a:r>
              <a:rPr lang="ru-RU" sz="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-э (-е), -ы       </a:t>
            </a:r>
            <a:endParaRPr lang="ru-RU" sz="5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ага-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     </a:t>
            </a:r>
          </a:p>
          <a:p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л. 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тынад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5000" b="1" u="sng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л. 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0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солэн</a:t>
            </a:r>
            <a:r>
              <a:rPr lang="ru-RU" sz="5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5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5000" b="1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уж-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вын-</a:t>
            </a:r>
            <a:r>
              <a:rPr lang="ru-RU" sz="50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ru-RU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05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26156" y="673768"/>
            <a:ext cx="10385659" cy="7553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40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ритяжательные суффиксы </a:t>
            </a:r>
            <a:r>
              <a:rPr lang="ru-RU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мн. ч.</a:t>
            </a:r>
          </a:p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л.  (милям)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-мы</a:t>
            </a:r>
          </a:p>
          <a:p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</a:t>
            </a:r>
            <a:r>
              <a:rPr lang="ru-RU" sz="5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-мы, пи-мы</a:t>
            </a: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л.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тӥляд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(-ты)</a:t>
            </a:r>
          </a:p>
          <a:p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</a:t>
            </a:r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54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5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</a:t>
            </a:r>
            <a:endParaRPr lang="ru-RU" sz="54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л. 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соослэн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,(-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сы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400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ныл-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зы</a:t>
            </a:r>
            <a:r>
              <a:rPr lang="ru-RU" sz="5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Ӝ</a:t>
            </a:r>
            <a:r>
              <a:rPr lang="ru-RU" sz="5400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ӧк-</a:t>
            </a:r>
            <a:r>
              <a:rPr lang="ru-RU" sz="5400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</a:t>
            </a:r>
            <a:endParaRPr lang="ru-RU" sz="5400" b="1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5400" b="1" i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5400" b="1" dirty="0" smtClean="0"/>
              <a:t> </a:t>
            </a:r>
            <a:endParaRPr lang="ru-RU" sz="54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60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Падежи</a:t>
            </a:r>
            <a:endParaRPr lang="ru-RU" sz="4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ru-RU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существительные удмуртского языка склоняются по </a:t>
            </a:r>
            <a:r>
              <a:rPr lang="ru-RU" sz="4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падежам. </a:t>
            </a:r>
            <a:endParaRPr lang="ru-RU" sz="4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падежей делятся </a:t>
            </a:r>
            <a:r>
              <a:rPr lang="ru-RU" sz="4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две группы: </a:t>
            </a:r>
            <a:endParaRPr lang="ru-RU" sz="4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u="sng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32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субъектно-объектные: </a:t>
            </a: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именительный, винительный, родительный, разделительный, дательный, </a:t>
            </a:r>
            <a:r>
              <a:rPr lang="ru-RU" sz="3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лишительный</a:t>
            </a: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соответственный, творительный.</a:t>
            </a:r>
          </a:p>
          <a:p>
            <a:r>
              <a:rPr lang="ru-RU" sz="3200" u="sng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32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местные: </a:t>
            </a: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местный, </a:t>
            </a:r>
            <a:r>
              <a:rPr lang="ru-RU" sz="3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входный</a:t>
            </a: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исходный, </a:t>
            </a:r>
            <a:r>
              <a:rPr lang="ru-RU" sz="3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отдалительный</a:t>
            </a:r>
            <a:r>
              <a:rPr lang="ru-RU" sz="3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переходный, направительный, предельный.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69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Существительные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обозначающие </a:t>
            </a: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одушевлённые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предметы, </a:t>
            </a:r>
            <a:endParaRPr lang="ru-RU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склоняются 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</a:t>
            </a:r>
            <a:endParaRPr lang="ru-RU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субъектно-объектным падежам, </a:t>
            </a:r>
            <a:endParaRPr lang="ru-RU" sz="40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хотя 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из них могут также иметь формы направительного и предельного падежей. </a:t>
            </a:r>
            <a:endParaRPr lang="ru-RU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Существительные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обозначающие </a:t>
            </a: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неодушевлённые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предметы, </a:t>
            </a: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склоняются по всем </a:t>
            </a:r>
            <a:r>
              <a:rPr lang="ru-RU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падежам</a:t>
            </a:r>
            <a:r>
              <a:rPr lang="ru-RU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2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16017" y="365125"/>
            <a:ext cx="10905423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Определяем падеж (падежный вопрос), переводим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Дуня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</a:t>
            </a:r>
            <a:r>
              <a:rPr lang="ru-RU" sz="4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(видит)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Ваня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Ваня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тэль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ысь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бертэ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(возвращается). 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бертэ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губи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тэк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(губи – гриб). </a:t>
            </a:r>
          </a:p>
          <a:p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Дуня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тэль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ысь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пичи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Ӵушъял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эз </a:t>
            </a:r>
            <a:r>
              <a:rPr lang="ru-RU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ушъял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ёж)</a:t>
            </a:r>
            <a:r>
              <a:rPr lang="ru-RU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560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639" y="365125"/>
            <a:ext cx="11049802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 падеж (падежный вопрос), переведи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Вова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ын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Писпу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ысь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писпу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дерево)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куаръёс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куар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лист)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усё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(падают).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кино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мынӥсько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(иду).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Йыбыртты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(поклонись)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музъем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музъем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земля),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</a:t>
            </a:r>
            <a:r>
              <a:rPr lang="ru-RU" sz="6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ата</a:t>
            </a:r>
            <a:r>
              <a:rPr lang="ru-RU" sz="6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703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638" y="365125"/>
            <a:ext cx="11049802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 падеж (падежный вопрос), переведи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Инбам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етӥ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инбам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небо)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самолёт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лобе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Ӟичы</a:t>
            </a:r>
            <a:r>
              <a:rPr lang="ru-RU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лэн </a:t>
            </a:r>
            <a:r>
              <a:rPr lang="ru-RU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Ӟ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ичы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лиса)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быж</a:t>
            </a:r>
            <a:r>
              <a:rPr lang="ru-RU" sz="6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быж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хвост)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чебер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(красивый).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Вани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лэсь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книга</a:t>
            </a:r>
            <a:r>
              <a:rPr lang="ru-RU" sz="60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Пети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лы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сёт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(отдай).</a:t>
            </a:r>
            <a:endParaRPr lang="ru-RU" sz="4400" i="1" dirty="0"/>
          </a:p>
        </p:txBody>
      </p:sp>
    </p:spTree>
    <p:extLst>
      <p:ext uri="{BB962C8B-B14F-4D97-AF65-F5344CB8AC3E}">
        <p14:creationId xmlns:p14="http://schemas.microsoft.com/office/powerpoint/2010/main" val="250296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71638" y="365125"/>
            <a:ext cx="11309684" cy="2324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400" u="sng" dirty="0" smtClean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3651" y="596766"/>
            <a:ext cx="107867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638" y="365125"/>
            <a:ext cx="1104980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Гуртэ</a:t>
            </a:r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уж. Переведи</a:t>
            </a:r>
          </a:p>
          <a:p>
            <a:pPr marL="1143000" indent="-1143000">
              <a:buAutoNum type="arabicPeriod"/>
            </a:pP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Тэль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ысь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ми потӥмы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шунды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0" indent="-1143000">
              <a:buAutoNum type="arabicPeriod"/>
            </a:pP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Бусы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етӥ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бус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вӧлске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0" indent="-1143000">
              <a:buAutoNum type="arabicPeriod" startAt="3"/>
            </a:pP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Чырс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сюкас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ен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секталлям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indent="-742950">
              <a:buAutoNum type="arabicPeriod" startAt="3"/>
            </a:pP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Уж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тэк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кылид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пукод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сиён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тэк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indent="-742950">
              <a:buAutoNum type="arabicPeriod" startAt="3"/>
            </a:pP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юрес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гурт</a:t>
            </a:r>
            <a:r>
              <a:rPr lang="ru-RU" sz="6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нуэ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29481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Туннэ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</a:t>
            </a:r>
            <a:r>
              <a:rPr lang="ru-RU" sz="8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endParaRPr lang="ru-RU" sz="8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…, …, …</a:t>
            </a:r>
          </a:p>
          <a:p>
            <a:pPr algn="ctr"/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ыль</a:t>
            </a:r>
            <a:r>
              <a:rPr lang="ru-RU" sz="8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кылъёсты</a:t>
            </a:r>
            <a:r>
              <a:rPr lang="ru-RU" sz="8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5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810</Words>
  <Application>Microsoft Office PowerPoint</Application>
  <PresentationFormat>Широкоэкранный</PresentationFormat>
  <Paragraphs>142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128</cp:revision>
  <dcterms:created xsi:type="dcterms:W3CDTF">2024-10-12T21:07:33Z</dcterms:created>
  <dcterms:modified xsi:type="dcterms:W3CDTF">2026-03-18T17:00:54Z</dcterms:modified>
</cp:coreProperties>
</file>