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301" r:id="rId3"/>
    <p:sldId id="302" r:id="rId4"/>
    <p:sldId id="290" r:id="rId5"/>
    <p:sldId id="291" r:id="rId6"/>
    <p:sldId id="287" r:id="rId7"/>
    <p:sldId id="298" r:id="rId8"/>
    <p:sldId id="276" r:id="rId9"/>
    <p:sldId id="277" r:id="rId10"/>
    <p:sldId id="278" r:id="rId11"/>
    <p:sldId id="274" r:id="rId12"/>
    <p:sldId id="270" r:id="rId13"/>
    <p:sldId id="271" r:id="rId14"/>
    <p:sldId id="272" r:id="rId15"/>
    <p:sldId id="280" r:id="rId16"/>
    <p:sldId id="283" r:id="rId17"/>
    <p:sldId id="293" r:id="rId18"/>
    <p:sldId id="294" r:id="rId19"/>
    <p:sldId id="296" r:id="rId20"/>
    <p:sldId id="297" r:id="rId21"/>
    <p:sldId id="292" r:id="rId22"/>
    <p:sldId id="299" r:id="rId23"/>
    <p:sldId id="304" r:id="rId24"/>
    <p:sldId id="305" r:id="rId25"/>
    <p:sldId id="306" r:id="rId26"/>
    <p:sldId id="307" r:id="rId27"/>
    <p:sldId id="303" r:id="rId28"/>
    <p:sldId id="286" r:id="rId29"/>
    <p:sldId id="300" r:id="rId30"/>
    <p:sldId id="308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69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72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2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67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23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8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68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6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15EF0-1884-4BA6-8912-8D2ADC004EA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5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10139" y="616017"/>
            <a:ext cx="1102092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Курсы удмуртского языка</a:t>
            </a:r>
          </a:p>
          <a:p>
            <a:pPr algn="ctr"/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Знакомство</a:t>
            </a: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577" y="1859064"/>
            <a:ext cx="7197306" cy="4472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88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926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44636" y="3294393"/>
            <a:ext cx="44918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346" y="1274955"/>
            <a:ext cx="7252137" cy="483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29710" y="365125"/>
            <a:ext cx="95013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Удмуртъёс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удмурты</a:t>
            </a:r>
            <a:endParaRPr lang="ru-RU" sz="4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6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926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44636" y="3294393"/>
            <a:ext cx="44918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727032" y="365125"/>
            <a:ext cx="500403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Удмурты – один из финно-угорских народов, </a:t>
            </a:r>
            <a:endParaRPr lang="ru-RU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живущий в</a:t>
            </a:r>
            <a:r>
              <a:rPr lang="ru-RU" sz="4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пределах 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исторической прародины </a:t>
            </a:r>
            <a:endParaRPr lang="ru-RU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финно-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угров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just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Приуралье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</a:p>
          <a:p>
            <a:pPr algn="just"/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междуречье Камы и Вятки.</a:t>
            </a:r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054" y="613548"/>
            <a:ext cx="4307223" cy="574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98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926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44636" y="3294393"/>
            <a:ext cx="44918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99090" y="365125"/>
            <a:ext cx="10754709" cy="6346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Удмуртский язык </a:t>
            </a:r>
          </a:p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месте с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коми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коми-пермяцким </a:t>
            </a:r>
          </a:p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относится к пермским языкам </a:t>
            </a:r>
          </a:p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финно-угорской группы </a:t>
            </a:r>
          </a:p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уральской семьи языков. </a:t>
            </a:r>
            <a:endParaRPr lang="ru-RU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финно-угорскую группу также входят  венгерский, финский, эстонский, мордовский, марийский, хантыйский и некоторые другие.</a:t>
            </a:r>
          </a:p>
        </p:txBody>
      </p:sp>
    </p:spTree>
    <p:extLst>
      <p:ext uri="{BB962C8B-B14F-4D97-AF65-F5344CB8AC3E}">
        <p14:creationId xmlns:p14="http://schemas.microsoft.com/office/powerpoint/2010/main" val="221001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344636" y="3294393"/>
            <a:ext cx="44918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61440" y="451945"/>
            <a:ext cx="102747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33+5</a:t>
            </a:r>
          </a:p>
          <a:p>
            <a:pPr algn="ctr"/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319" y="1690688"/>
            <a:ext cx="9231361" cy="435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6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16531" y="433137"/>
            <a:ext cx="10106526" cy="596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dirty="0" smtClean="0"/>
              <a:t> 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(и с точками)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твердых Д, З, Л, Н, С, </a:t>
            </a:r>
            <a:r>
              <a:rPr lang="ru-RU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endParaRPr lang="ru-RU" sz="5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7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7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зи – 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ли-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ни-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си-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ти-т</a:t>
            </a:r>
            <a:r>
              <a:rPr lang="ru-RU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endParaRPr lang="ru-RU" sz="7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 – </a:t>
            </a:r>
            <a:r>
              <a:rPr lang="ru-RU" sz="5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ешь</a:t>
            </a:r>
            <a:r>
              <a:rPr lang="ru-RU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5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5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54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пласт</a:t>
            </a:r>
            <a:endParaRPr lang="ru-RU" sz="54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45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16531" y="433137"/>
            <a:ext cx="10106526" cy="5928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Тренировка в паре:</a:t>
            </a:r>
            <a:r>
              <a:rPr lang="ru-RU" sz="5400" u="sng" dirty="0" smtClean="0">
                <a:solidFill>
                  <a:srgbClr val="7030A0"/>
                </a:solidFill>
              </a:rPr>
              <a:t> </a:t>
            </a:r>
            <a:endParaRPr lang="ru-RU" sz="5400" b="1" u="sng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9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9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зи – 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ли-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ни-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си-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ти-т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9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4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52902" y="510139"/>
            <a:ext cx="9827393" cy="5039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</a:t>
            </a:r>
            <a:r>
              <a:rPr lang="ru-RU" sz="9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sz="96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дверь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9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9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96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endParaRPr lang="ru-RU" sz="9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21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52902" y="510139"/>
            <a:ext cx="9827393" cy="7296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образуется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слитном произношении звуков </a:t>
            </a:r>
            <a:r>
              <a:rPr lang="ru-RU" dirty="0"/>
              <a:t> </a:t>
            </a:r>
            <a:r>
              <a:rPr lang="ru-RU" sz="6000" b="1" dirty="0" smtClean="0"/>
              <a:t>[</a:t>
            </a:r>
            <a:r>
              <a:rPr lang="ru-RU" sz="6000" b="1" dirty="0" err="1" smtClean="0"/>
              <a:t>дж</a:t>
            </a:r>
            <a:r>
              <a:rPr lang="ru-RU" sz="6000" b="1" dirty="0" smtClean="0"/>
              <a:t>]</a:t>
            </a:r>
            <a:r>
              <a:rPr lang="ru-RU" sz="6000" dirty="0" smtClean="0"/>
              <a:t> </a:t>
            </a:r>
            <a:endParaRPr lang="ru-RU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Дж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енифер 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 сие.</a:t>
            </a:r>
          </a:p>
          <a:p>
            <a:pPr algn="ctr"/>
            <a:r>
              <a:rPr lang="ru-RU" sz="7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5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 </a:t>
            </a:r>
            <a:r>
              <a:rPr lang="ru-RU" sz="5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5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каша</a:t>
            </a:r>
          </a:p>
          <a:p>
            <a:pPr algn="ctr"/>
            <a:r>
              <a:rPr lang="ru-RU" sz="5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5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ие - ест</a:t>
            </a:r>
            <a:endParaRPr lang="ru-RU" sz="5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83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87972" y="147145"/>
            <a:ext cx="10226566" cy="6031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9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образуется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слиянии 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звуков  </a:t>
            </a:r>
            <a:r>
              <a:rPr lang="ru-RU" sz="5400" b="1" dirty="0"/>
              <a:t> </a:t>
            </a:r>
            <a:r>
              <a:rPr lang="ru-RU" sz="6600" b="1" dirty="0" smtClean="0"/>
              <a:t>[</a:t>
            </a:r>
            <a:r>
              <a:rPr lang="ru-RU" sz="6600" b="1" dirty="0" err="1" smtClean="0"/>
              <a:t>тш</a:t>
            </a:r>
            <a:r>
              <a:rPr lang="ru-RU" sz="6600" b="1" dirty="0" smtClean="0"/>
              <a:t>]</a:t>
            </a:r>
            <a:endParaRPr lang="ru-RU" sz="66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 </a:t>
            </a:r>
            <a:r>
              <a:rPr lang="ru-RU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сорока</a:t>
            </a:r>
            <a:r>
              <a:rPr lang="ru-RU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пестрая,</a:t>
            </a:r>
            <a:r>
              <a:rPr lang="ru-RU" sz="6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ыртэ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54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трещит</a:t>
            </a:r>
            <a:r>
              <a:rPr lang="ru-RU" sz="5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54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стрекочет</a:t>
            </a:r>
            <a:endParaRPr lang="ru-RU" sz="54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ыртэ 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о.</a:t>
            </a:r>
            <a:endParaRPr lang="ru-RU" sz="6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37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7" y="-136343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62012" y="269507"/>
            <a:ext cx="112904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4355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62152" y="233320"/>
            <a:ext cx="10993820" cy="58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6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образуется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слитном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произношении 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600" b="1" dirty="0"/>
              <a:t> </a:t>
            </a:r>
            <a:r>
              <a:rPr lang="ru-RU" sz="6000" b="1" dirty="0" smtClean="0"/>
              <a:t>[</a:t>
            </a:r>
            <a:r>
              <a:rPr lang="ru-RU" sz="6000" b="1" dirty="0" err="1" smtClean="0"/>
              <a:t>д’з</a:t>
            </a:r>
            <a:r>
              <a:rPr lang="ru-RU" sz="6000" b="1" dirty="0" smtClean="0"/>
              <a:t>’]</a:t>
            </a:r>
            <a:endParaRPr lang="ru-RU" sz="6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 </a:t>
            </a:r>
            <a:r>
              <a:rPr lang="ru-RU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рожь</a:t>
            </a:r>
            <a:r>
              <a:rPr lang="ru-RU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 </a:t>
            </a:r>
            <a:r>
              <a:rPr lang="ru-RU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кузнечик.</a:t>
            </a:r>
            <a:endParaRPr lang="ru-RU" sz="60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 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лын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(Среди ржи кузнечик)</a:t>
            </a:r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4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03158" y="693019"/>
            <a:ext cx="10472285" cy="706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35781" y="529389"/>
            <a:ext cx="9192126" cy="5434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з’ ] 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ж’]</a:t>
            </a:r>
            <a:endParaRPr lang="ru-RU" sz="60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с’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ш’]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Зина, Сергей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9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Кузьма</a:t>
            </a:r>
            <a:endParaRPr lang="ru-RU" sz="9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91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328285" y="702644"/>
            <a:ext cx="9634889" cy="5771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Ударение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большинстве слов падает </a:t>
            </a:r>
            <a:endParaRPr lang="ru-RU" sz="4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последний слог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4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кроме глаголов повелительного наклонения -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сИськы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ru-RU" sz="4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отрицательных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глаголов –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уг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мЫны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,…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заимствованных словах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одном и том же слове ударение может быть двояким: 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Уксус,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уксУс</a:t>
            </a:r>
            <a:endParaRPr lang="ru-RU" sz="4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00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106905" y="500514"/>
            <a:ext cx="9654139" cy="7660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Прочитай, четко произнося </a:t>
            </a:r>
            <a:r>
              <a:rPr lang="ru-RU" sz="3600" u="sng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звуки</a:t>
            </a:r>
            <a:r>
              <a:rPr lang="ru-RU" sz="3600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3600" u="sng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ог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крючок) -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ог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(быстро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ӵӧ</a:t>
            </a:r>
            <a:r>
              <a:rPr lang="ru-RU" sz="6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</a:t>
            </a:r>
            <a:r>
              <a:rPr lang="ru-RU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(утка) </a:t>
            </a:r>
            <a:r>
              <a:rPr lang="ru-RU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ӧк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(стол)</a:t>
            </a:r>
            <a:endParaRPr lang="ru-RU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(утром) </a:t>
            </a:r>
            <a:r>
              <a:rPr lang="ru-RU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ук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(каша)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чус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(чутко) </a:t>
            </a:r>
            <a:r>
              <a:rPr lang="ru-RU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</a:t>
            </a:r>
            <a:r>
              <a:rPr lang="ru-RU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(скамейка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сь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(жарко) – 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6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зь</a:t>
            </a: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(варежка)</a:t>
            </a:r>
            <a:endParaRPr lang="ru-RU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52901" y="558265"/>
            <a:ext cx="9962147" cy="619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</a:t>
            </a: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 Умоесь ! </a:t>
            </a:r>
            <a:endParaRPr lang="ru-RU" sz="80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Чырткемесь</a:t>
            </a: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Здравствуйте</a:t>
            </a:r>
            <a:r>
              <a:rPr lang="ru-RU" sz="6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ru-RU" sz="60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600" b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600" b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</a:t>
            </a:r>
            <a:r>
              <a:rPr lang="ru-RU" sz="6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 Умой! </a:t>
            </a:r>
            <a:r>
              <a:rPr lang="ru-RU" sz="66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Чырткем</a:t>
            </a:r>
            <a:r>
              <a:rPr lang="ru-RU" sz="6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 </a:t>
            </a:r>
            <a:endParaRPr lang="ru-RU" sz="6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Здравствуй!</a:t>
            </a:r>
            <a:endParaRPr lang="ru-RU" sz="6000" i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27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200" y="903890"/>
            <a:ext cx="11206654" cy="4343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ечбуресь!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Умоесь!Чырткемесь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!) </a:t>
            </a:r>
          </a:p>
          <a:p>
            <a:pPr lvl="0" algn="just"/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…(имя)</a:t>
            </a:r>
            <a:endParaRPr lang="ru-RU" sz="5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59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200" y="903890"/>
            <a:ext cx="11206654" cy="6190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ечбуресь!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Умоесь!Чырткемесь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!) </a:t>
            </a:r>
          </a:p>
          <a:p>
            <a:pPr lvl="0" algn="just"/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нимы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</a:p>
          <a:p>
            <a:pPr lvl="0" algn="just"/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(меня зовут…)</a:t>
            </a:r>
            <a:endParaRPr lang="ru-RU" sz="5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66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200" y="903890"/>
            <a:ext cx="11206654" cy="789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(я)           -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6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- </a:t>
            </a: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(русский)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- бигер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(татарин)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6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22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199" y="903890"/>
            <a:ext cx="10702159" cy="8685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Пи-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мальчик, юноша 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</a:t>
            </a:r>
            <a:r>
              <a:rPr lang="ru-RU" sz="6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девочка, девушка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Мон удмурт 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Мон удмурт 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6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11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35422" y="451945"/>
            <a:ext cx="11109432" cy="6553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Расскажи о себе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9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ечбуресь! </a:t>
            </a:r>
            <a:endParaRPr lang="ru-RU" sz="6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нимы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…(Люба) </a:t>
            </a:r>
          </a:p>
          <a:p>
            <a:pPr lvl="0" algn="just"/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(удмурт ныл) </a:t>
            </a:r>
            <a:endParaRPr lang="ru-RU" sz="6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ru-RU" sz="5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33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1895" y="673769"/>
            <a:ext cx="10327907" cy="6168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Тренировка в паре:</a:t>
            </a:r>
            <a:r>
              <a:rPr lang="ru-RU" sz="4000" u="sng" dirty="0">
                <a:solidFill>
                  <a:srgbClr val="7030A0"/>
                </a:solidFill>
              </a:rPr>
              <a:t> </a:t>
            </a:r>
            <a:endParaRPr lang="ru-RU" sz="4000" b="1" u="sng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-Чырткем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(Лёша)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-Умой! 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(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Настя)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-Мон 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удмурт.</a:t>
            </a:r>
          </a:p>
          <a:p>
            <a:pPr algn="ctr"/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-Мон но удмурт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(Нош мон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уч)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50771" y="442762"/>
            <a:ext cx="10250906" cy="6473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овые</a:t>
            </a:r>
            <a:r>
              <a:rPr lang="ru-RU" sz="4800" b="1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ечбуресь!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Чырткемесь!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Умоесь!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60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Здравствуйте!</a:t>
            </a:r>
            <a:endParaRPr lang="ru-RU" sz="6000" b="1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2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71751" y="577516"/>
            <a:ext cx="10317066" cy="4988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овые</a:t>
            </a:r>
            <a:r>
              <a:rPr lang="ru-RU" sz="4800" b="1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Мон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я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Ӟуч</a:t>
            </a: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русский (русская)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Бигер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6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татарин (татарка)</a:t>
            </a:r>
          </a:p>
        </p:txBody>
      </p:sp>
    </p:spTree>
    <p:extLst>
      <p:ext uri="{BB962C8B-B14F-4D97-AF65-F5344CB8AC3E}">
        <p14:creationId xmlns:p14="http://schemas.microsoft.com/office/powerpoint/2010/main" val="386505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90888" y="606392"/>
            <a:ext cx="11097929" cy="3568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овые</a:t>
            </a:r>
            <a:r>
              <a:rPr lang="ru-RU" sz="4800" b="1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девочка, девушка, дочь.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</a:t>
            </a:r>
            <a:r>
              <a:rPr lang="ru-RU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мальчик, юноша, сын.</a:t>
            </a:r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59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12783" y="606392"/>
            <a:ext cx="10376034" cy="601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овые</a:t>
            </a:r>
            <a:r>
              <a:rPr lang="ru-RU" sz="4800" b="1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Ӝук</a:t>
            </a: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каша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сорока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</a:t>
            </a:r>
            <a:r>
              <a:rPr lang="ru-RU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кузнечик</a:t>
            </a:r>
            <a:endParaRPr lang="ru-RU" sz="8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07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200" y="606392"/>
            <a:ext cx="10750617" cy="4857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800" b="1" u="sng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48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овые</a:t>
            </a:r>
            <a:r>
              <a:rPr lang="ru-RU" sz="4800" b="1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8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</a:t>
            </a:r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дверь </a:t>
            </a:r>
            <a:endParaRPr lang="ru-RU" sz="8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8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endParaRPr lang="ru-RU" sz="8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84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70021" y="606391"/>
            <a:ext cx="10799545" cy="851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Прочитай и переведи новые</a:t>
            </a:r>
            <a:r>
              <a:rPr lang="ru-RU" sz="4800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он, ныл,</a:t>
            </a: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чырткемесь, пи,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уч,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ечбуресь,</a:t>
            </a:r>
            <a:r>
              <a:rPr lang="ru-RU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8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бигер, умоесь, ко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о, </a:t>
            </a:r>
            <a:r>
              <a:rPr lang="ru-RU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с,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8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8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7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15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71752" y="546538"/>
            <a:ext cx="98376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6000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Проверь себя </a:t>
            </a:r>
          </a:p>
          <a:p>
            <a:pPr lvl="0" algn="ctr"/>
            <a:r>
              <a:rPr lang="ru-RU" sz="8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спомни и напиши</a:t>
            </a:r>
          </a:p>
          <a:p>
            <a:pPr lvl="0" algn="ctr"/>
            <a:r>
              <a:rPr lang="ru-RU" sz="8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зученные слова </a:t>
            </a:r>
          </a:p>
          <a:p>
            <a:pPr lvl="0" algn="ctr"/>
            <a:r>
              <a:rPr lang="ru-RU" sz="8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переводом</a:t>
            </a:r>
            <a:r>
              <a:rPr lang="ru-RU" sz="8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8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73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62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93986" y="546538"/>
            <a:ext cx="1134066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u="sng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4800" u="sng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ыучи </a:t>
            </a:r>
            <a:r>
              <a:rPr lang="ru-RU" sz="4800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одну из скороговорок</a:t>
            </a:r>
            <a:r>
              <a:rPr lang="ru-RU" sz="4800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Дженифер 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8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</a:t>
            </a:r>
            <a:r>
              <a:rPr lang="ru-RU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сие.</a:t>
            </a:r>
          </a:p>
          <a:p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</a:t>
            </a:r>
            <a:r>
              <a:rPr lang="ru-RU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ыртэ </a:t>
            </a:r>
            <a:r>
              <a:rPr lang="ru-RU" sz="8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</a:t>
            </a:r>
            <a:r>
              <a:rPr lang="ru-RU" sz="8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</a:t>
            </a:r>
            <a:r>
              <a:rPr lang="ru-RU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о.</a:t>
            </a:r>
            <a:endParaRPr lang="ru-RU" sz="88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 </a:t>
            </a:r>
            <a:r>
              <a:rPr lang="ru-RU" sz="8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8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лын</a:t>
            </a:r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оз.</a:t>
            </a:r>
          </a:p>
          <a:p>
            <a:pPr lvl="0" algn="ctr"/>
            <a:endParaRPr lang="ru-RU" sz="6000" u="sng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/>
            <a:endParaRPr lang="ru-RU" sz="6000" u="sng" dirty="0" smtClean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54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62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93986" y="546538"/>
            <a:ext cx="113406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ru-RU" sz="6000" u="sng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/>
            <a:endParaRPr lang="ru-RU" sz="6000" u="sng" dirty="0" smtClean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59293" y="442762"/>
            <a:ext cx="879986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Ӟеч</a:t>
            </a:r>
            <a:r>
              <a:rPr lang="ru-RU" sz="1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луэ</a:t>
            </a:r>
            <a:r>
              <a:rPr lang="ru-RU" sz="1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algn="ctr"/>
            <a:endParaRPr lang="ru-RU" sz="9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 свидания!</a:t>
            </a:r>
            <a:endParaRPr lang="ru-RU" sz="9600" dirty="0"/>
          </a:p>
        </p:txBody>
      </p:sp>
    </p:spTree>
    <p:extLst>
      <p:ext uri="{BB962C8B-B14F-4D97-AF65-F5344CB8AC3E}">
        <p14:creationId xmlns:p14="http://schemas.microsoft.com/office/powerpoint/2010/main" val="47139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592</Words>
  <Application>Microsoft Office PowerPoint</Application>
  <PresentationFormat>Широкоэкранный</PresentationFormat>
  <Paragraphs>126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57</cp:revision>
  <dcterms:created xsi:type="dcterms:W3CDTF">2024-10-12T21:07:33Z</dcterms:created>
  <dcterms:modified xsi:type="dcterms:W3CDTF">2026-02-03T20:03:14Z</dcterms:modified>
</cp:coreProperties>
</file>