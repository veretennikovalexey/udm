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6" r:id="rId3"/>
    <p:sldId id="297" r:id="rId4"/>
    <p:sldId id="298" r:id="rId5"/>
    <p:sldId id="299" r:id="rId6"/>
    <p:sldId id="302" r:id="rId7"/>
    <p:sldId id="300" r:id="rId8"/>
    <p:sldId id="301" r:id="rId9"/>
    <p:sldId id="303" r:id="rId10"/>
    <p:sldId id="287" r:id="rId11"/>
    <p:sldId id="286" r:id="rId12"/>
    <p:sldId id="288" r:id="rId13"/>
    <p:sldId id="291" r:id="rId14"/>
    <p:sldId id="292" r:id="rId15"/>
    <p:sldId id="293" r:id="rId16"/>
    <p:sldId id="294" r:id="rId17"/>
    <p:sldId id="289" r:id="rId18"/>
    <p:sldId id="304" r:id="rId19"/>
    <p:sldId id="282" r:id="rId20"/>
    <p:sldId id="307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500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9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76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839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42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812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67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81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64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67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C59B4-4FE7-469F-B0DC-FF65D850E804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433E0-C2FA-48FD-9299-7C37DE8ED0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00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library.unatlib.ru/handle/123456789/1107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86" b="44564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635760" y="0"/>
            <a:ext cx="10129520" cy="6593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5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Разговорный клуб </a:t>
            </a:r>
            <a:r>
              <a:rPr lang="ru-RU" sz="5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удмуртского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Тема 2: Неочевидное прошедшее время.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Притяжательные суффиксы ед. ч.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ru-RU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24</a:t>
            </a:r>
            <a:r>
              <a:rPr lang="ru-RU" sz="4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тулыспал</a:t>
            </a:r>
            <a:r>
              <a:rPr lang="ru-RU" sz="4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2026 ар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56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93533" y="596767"/>
            <a:ext cx="10019899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анай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меми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мама, 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атай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папа,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ыл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дочь, девочка,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сын, мальчик,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32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8641" y="596767"/>
            <a:ext cx="10664792" cy="5566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песянай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бабушка,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ужанай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бабушка со     стороны мамы,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18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8641" y="596767"/>
            <a:ext cx="10664792" cy="5566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есятай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дедушка,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ужатай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дедушка со     стороны мамы,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40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8641" y="596767"/>
            <a:ext cx="10664792" cy="708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гай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старший брат, дядя,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8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ын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младший брат,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пай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старшая сестра, тётя,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8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узэр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младшая сестра.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95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145405" y="365125"/>
            <a:ext cx="10068027" cy="7847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66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кузпал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8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супруг,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карт</a:t>
            </a: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муж,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66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кышно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жена,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66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туган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возлюбленный (</a:t>
            </a:r>
            <a:r>
              <a:rPr lang="ru-RU" sz="6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ая</a:t>
            </a:r>
            <a:r>
              <a:rPr lang="ru-RU" sz="6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                    любимый, родственник.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8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8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69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8640" y="567891"/>
            <a:ext cx="11184555" cy="7115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u="sng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Притяжательные суффиксы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200" dirty="0" smtClean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(обозначают принадлежность предметов к 1, 2, 3-му лицу)</a:t>
            </a:r>
          </a:p>
          <a:p>
            <a:pPr algn="ctr"/>
            <a:r>
              <a:rPr lang="ru-RU" sz="3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Единственное число:</a:t>
            </a:r>
            <a:endParaRPr lang="ru-RU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л. </a:t>
            </a:r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-э(-е), -ы: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карт-э, 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-е, ныл-ы </a:t>
            </a:r>
          </a:p>
          <a:p>
            <a:r>
              <a:rPr lang="ru-RU" sz="4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л.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эд</a:t>
            </a:r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</a:t>
            </a:r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-</a:t>
            </a:r>
            <a:r>
              <a:rPr lang="ru-RU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ыд</a:t>
            </a:r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карт-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эд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ана-ед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ныл-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ыд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л. </a:t>
            </a:r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эз</a:t>
            </a:r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ез</a:t>
            </a:r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-</a:t>
            </a:r>
            <a:r>
              <a:rPr lang="ru-RU" sz="5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ыз</a:t>
            </a:r>
            <a:r>
              <a:rPr lang="ru-RU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карт-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эз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ана-ез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ныл-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ыз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5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14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73768" y="750771"/>
            <a:ext cx="11059427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7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Агай</a:t>
            </a:r>
            <a:r>
              <a:rPr lang="ru-RU" sz="7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апае</a:t>
            </a:r>
            <a:r>
              <a:rPr lang="ru-RU" sz="7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выны</a:t>
            </a:r>
            <a:r>
              <a:rPr lang="ru-RU" sz="7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сузэр</a:t>
            </a:r>
            <a:r>
              <a:rPr lang="ru-RU" sz="7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анай</a:t>
            </a:r>
            <a:r>
              <a:rPr lang="ru-RU" sz="7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нылы</a:t>
            </a:r>
            <a:r>
              <a:rPr lang="ru-RU" sz="7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пиед</a:t>
            </a:r>
            <a:r>
              <a:rPr lang="ru-RU" sz="7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песянай</a:t>
            </a:r>
            <a:r>
              <a:rPr lang="ru-RU" sz="7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7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ужатаез</a:t>
            </a:r>
            <a:r>
              <a:rPr lang="ru-RU" sz="7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ӵ</a:t>
            </a:r>
            <a:r>
              <a:rPr lang="ru-RU" sz="7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ужатаед</a:t>
            </a:r>
            <a:r>
              <a:rPr lang="ru-RU" sz="7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картэ</a:t>
            </a:r>
            <a:r>
              <a:rPr lang="ru-RU" sz="7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кузпалы</a:t>
            </a:r>
            <a:r>
              <a:rPr lang="ru-RU" sz="7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кышноед</a:t>
            </a:r>
            <a:r>
              <a:rPr lang="ru-RU" sz="7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70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туган</a:t>
            </a:r>
            <a:r>
              <a:rPr lang="ru-RU" sz="7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7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65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12269" y="539014"/>
            <a:ext cx="10799547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еочевидное </a:t>
            </a:r>
          </a:p>
          <a:p>
            <a:pPr algn="ctr"/>
            <a:r>
              <a:rPr lang="ru-RU" sz="4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прошедшее время  глаголов.</a:t>
            </a:r>
          </a:p>
          <a:p>
            <a:pPr algn="ctr"/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Употребляются в тех случаях, когда говорящий не уверен в достоверности информации, не был очевидцем действия, рассказывает как-бы с чужих слов или когда не уверен в том, что было с ним самим (если от 1 лица).</a:t>
            </a:r>
          </a:p>
        </p:txBody>
      </p:sp>
    </p:spTree>
    <p:extLst>
      <p:ext uri="{BB962C8B-B14F-4D97-AF65-F5344CB8AC3E}">
        <p14:creationId xmlns:p14="http://schemas.microsoft.com/office/powerpoint/2010/main" val="384969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56135" y="365125"/>
            <a:ext cx="1151181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еочевидное прошедшее время </a:t>
            </a:r>
          </a:p>
          <a:p>
            <a:pPr algn="ctr"/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1л.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-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иськем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иськем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-</a:t>
            </a:r>
            <a:r>
              <a:rPr lang="ru-RU" sz="44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ськем</a:t>
            </a:r>
            <a:r>
              <a:rPr lang="ru-RU" sz="4400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(-</a:t>
            </a:r>
            <a:r>
              <a:rPr lang="ru-RU" sz="4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ськеммы</a:t>
            </a:r>
            <a:r>
              <a:rPr lang="ru-RU" sz="4400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-</a:t>
            </a: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ськем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4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ськем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</a:t>
            </a:r>
            <a:r>
              <a:rPr lang="ru-RU" sz="4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4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л. -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эм,-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(-</a:t>
            </a:r>
            <a:r>
              <a:rPr lang="ru-RU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иллям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  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-</a:t>
            </a:r>
            <a:r>
              <a:rPr lang="ru-RU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4400" i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4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ллям</a:t>
            </a:r>
            <a:r>
              <a:rPr lang="ru-RU" sz="4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4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л. -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эм,-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(-</a:t>
            </a:r>
            <a:r>
              <a:rPr lang="ru-RU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иллям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</a:t>
            </a:r>
            <a:r>
              <a:rPr lang="ru-RU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44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44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ллям</a:t>
            </a:r>
            <a:r>
              <a:rPr lang="ru-RU" sz="4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4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-выл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-ы-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ны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вера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(вера-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ны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ӥллям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выл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ӥллям           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вера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ллям</a:t>
            </a:r>
            <a:endParaRPr lang="ru-RU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44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Вордӥськ</a:t>
            </a:r>
            <a:r>
              <a:rPr lang="ru-RU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-ы-</a:t>
            </a:r>
            <a:r>
              <a:rPr lang="ru-RU" sz="44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</a:t>
            </a:r>
            <a:r>
              <a:rPr lang="ru-RU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4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малпа-ны</a:t>
            </a:r>
            <a:r>
              <a:rPr lang="ru-RU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4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0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56135" y="365125"/>
            <a:ext cx="1151181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еочевидное прошедшее время </a:t>
            </a:r>
          </a:p>
          <a:p>
            <a:pPr algn="ctr"/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4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ед.ч. </a:t>
            </a:r>
            <a:r>
              <a:rPr lang="ru-RU" sz="4400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(мн. ч.)                </a:t>
            </a:r>
            <a:r>
              <a:rPr lang="ru-RU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ед.ч. </a:t>
            </a:r>
            <a:r>
              <a:rPr lang="ru-RU" sz="4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(мн. ч</a:t>
            </a:r>
            <a:r>
              <a:rPr lang="ru-RU" sz="4400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algn="just"/>
            <a:r>
              <a:rPr lang="ru-RU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1л.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-</a:t>
            </a:r>
            <a:r>
              <a:rPr lang="ru-RU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иськем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иськем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-</a:t>
            </a:r>
            <a:r>
              <a:rPr lang="ru-RU" sz="44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ськем</a:t>
            </a:r>
            <a:r>
              <a:rPr lang="ru-RU" sz="4400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(-</a:t>
            </a:r>
            <a:r>
              <a:rPr lang="ru-RU" sz="4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ськеммы</a:t>
            </a:r>
            <a:r>
              <a:rPr lang="ru-RU" sz="4400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-</a:t>
            </a: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ськем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4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ӥ</a:t>
            </a:r>
            <a:r>
              <a:rPr lang="ru-RU" sz="4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ськем</a:t>
            </a:r>
            <a:r>
              <a:rPr lang="ru-RU" sz="4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</a:t>
            </a:r>
            <a:r>
              <a:rPr lang="ru-RU" sz="4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4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л. -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эм,-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(-</a:t>
            </a:r>
            <a:r>
              <a:rPr lang="ru-RU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иллям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  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-</a:t>
            </a:r>
            <a:r>
              <a:rPr lang="ru-RU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4400" i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44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ллям</a:t>
            </a:r>
            <a:r>
              <a:rPr lang="ru-RU" sz="44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4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л. -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эм,-</a:t>
            </a:r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ем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(-</a:t>
            </a:r>
            <a:r>
              <a:rPr lang="ru-RU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иллям</a:t>
            </a:r>
            <a:r>
              <a:rPr lang="ru-RU" sz="4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</a:t>
            </a:r>
            <a:r>
              <a:rPr lang="ru-RU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44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ru-RU" sz="44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ллям</a:t>
            </a:r>
            <a:r>
              <a:rPr lang="ru-RU" sz="4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4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4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40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67892" y="1063308"/>
            <a:ext cx="1114204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Анае</a:t>
            </a:r>
            <a:r>
              <a:rPr lang="ru-RU" sz="54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5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гурзэ</a:t>
            </a:r>
            <a:r>
              <a:rPr lang="ru-RU" sz="54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54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5400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эстыны</a:t>
            </a:r>
            <a:r>
              <a:rPr lang="ru-RU" sz="54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дыр, но</a:t>
            </a:r>
            <a:b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5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Муръётӥз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ӵыныз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потэ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дыр.</a:t>
            </a:r>
            <a:b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5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Корказь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5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выжыяз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54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5400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потыны</a:t>
            </a:r>
            <a:r>
              <a:rPr lang="ru-RU" sz="54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дыр, но</a:t>
            </a:r>
            <a:b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54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Пие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54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бертэ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», – </a:t>
            </a:r>
            <a:r>
              <a:rPr lang="ru-RU" sz="5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шуэ</a:t>
            </a:r>
            <a:r>
              <a:rPr lang="ru-RU" sz="5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дыр.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047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67892" y="1063308"/>
            <a:ext cx="11142044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67893" y="875898"/>
            <a:ext cx="11492562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Атае</a:t>
            </a:r>
            <a:r>
              <a:rPr lang="ru-RU" sz="60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валзэ</a:t>
            </a:r>
            <a:r>
              <a:rPr lang="ru-RU" sz="6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6000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сюдыны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дыр, но</a:t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Тӧри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ужпизэ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6000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кыткыны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дыр.</a:t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Букояз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гырлы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6000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думыны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дыр, но</a:t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6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Пиме</a:t>
            </a:r>
            <a:r>
              <a:rPr lang="ru-RU" sz="6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ваё», –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шуэ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дыр.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280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67892" y="1063308"/>
            <a:ext cx="11142044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67893" y="875898"/>
            <a:ext cx="114925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21895" y="875898"/>
            <a:ext cx="10902211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Апае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сатин 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6000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басьтыны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дыр, но</a:t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Дэрем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вуро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»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шуэ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дыр.</a:t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Ӝӧк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вылэ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поныса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вандэ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дыр, но</a:t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Урам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укное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учке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дыр.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504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67892" y="1063308"/>
            <a:ext cx="11142044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67893" y="875898"/>
            <a:ext cx="114925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12269" y="1063307"/>
            <a:ext cx="10997667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Сузэре</a:t>
            </a:r>
            <a:r>
              <a:rPr lang="ru-RU" sz="60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ӵукна</a:t>
            </a:r>
            <a:r>
              <a:rPr lang="ru-RU" sz="6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6000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султыны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6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дыр, но</a:t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Капка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выжыяз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6000" dirty="0" err="1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потыны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6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дыр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Гырлы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куарез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кылэ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дыр, но</a:t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6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ru-RU" sz="6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Дядяй</a:t>
            </a:r>
            <a:r>
              <a:rPr lang="ru-RU" sz="6000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6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бертэ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»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шуэ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дыр.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311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67892" y="1063308"/>
            <a:ext cx="11142044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67893" y="875898"/>
            <a:ext cx="114925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44893" y="875898"/>
            <a:ext cx="1106504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Выны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ӵукна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6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султыны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дыр, 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Шудон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арганзэ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6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кутыны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дыр,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Капка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выжыяз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60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потыны</a:t>
            </a:r>
            <a:r>
              <a:rPr lang="ru-RU" sz="6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дыр, 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6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Агае</a:t>
            </a:r>
            <a:r>
              <a:rPr lang="ru-RU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бертэ</a:t>
            </a:r>
            <a:r>
              <a:rPr lang="ru-RU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дыр.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30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838200" y="529388"/>
            <a:ext cx="1087173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7515" y="895150"/>
            <a:ext cx="11271183" cy="4543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" marR="38100">
              <a:lnSpc>
                <a:spcPct val="107000"/>
              </a:lnSpc>
              <a:spcAft>
                <a:spcPts val="300"/>
              </a:spcAft>
            </a:pPr>
            <a:r>
              <a:rPr lang="ru-RU" sz="6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Туганэз</a:t>
            </a:r>
            <a:r>
              <a:rPr lang="ru-RU" sz="6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туган</a:t>
            </a:r>
            <a:r>
              <a:rPr lang="ru-RU" sz="6000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возьма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6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дыр,но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Чильпам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ӝӧккышет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вӧлдэ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дыр,</a:t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Ошмес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вуэз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6000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вайыны</a:t>
            </a:r>
            <a:r>
              <a:rPr lang="ru-RU" sz="6000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6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6000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дыр, но</a:t>
            </a:r>
            <a:b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Самоварзэ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пуктэ</a:t>
            </a: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дыр.</a:t>
            </a:r>
            <a:endParaRPr lang="ru-RU" sz="6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79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31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838200" y="529388"/>
            <a:ext cx="1087173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7515" y="895150"/>
            <a:ext cx="11271183" cy="1579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" marR="38100">
              <a:lnSpc>
                <a:spcPct val="107000"/>
              </a:lnSpc>
              <a:spcAft>
                <a:spcPts val="300"/>
              </a:spcAft>
            </a:pPr>
            <a:endParaRPr lang="ru-RU" sz="6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62527" y="365125"/>
            <a:ext cx="10747408" cy="6145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Текст 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песни впервые был напечатан </a:t>
            </a: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1927 году </a:t>
            </a:r>
            <a:endParaRPr lang="ru-RU" sz="36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сборнике </a:t>
            </a:r>
            <a:r>
              <a:rPr lang="ru-RU" sz="3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«</a:t>
            </a:r>
            <a:r>
              <a:rPr lang="ru-RU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Удмурт </a:t>
            </a:r>
            <a:r>
              <a:rPr lang="ru-RU" sz="3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кырӟанъёс</a:t>
            </a:r>
            <a:r>
              <a:rPr lang="ru-RU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»</a:t>
            </a:r>
            <a:r>
              <a:rPr lang="ru-RU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3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(«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Удмуртские песни») </a:t>
            </a:r>
            <a:endParaRPr lang="ru-RU" sz="36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 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названием </a:t>
            </a:r>
            <a:endParaRPr lang="ru-RU" sz="36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Бертӥсь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салдатлэн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кырӟанэз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 </a:t>
            </a:r>
            <a:endParaRPr lang="ru-RU" sz="36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(«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Песня возвращающегося солдата»). </a:t>
            </a:r>
            <a:endParaRPr lang="ru-RU" sz="36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Песня 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представлена как народная: указано, что её записал в деревне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Кузебаево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Можгинского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уезда </a:t>
            </a:r>
            <a:endParaRPr lang="ru-RU" sz="36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И.Г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Векшин (</a:t>
            </a:r>
            <a:r>
              <a:rPr lang="ru-RU" sz="3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Айво</a:t>
            </a: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Иви</a:t>
            </a:r>
            <a:r>
              <a:rPr lang="ru-RU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 </a:t>
            </a:r>
            <a:r>
              <a:rPr lang="ru-RU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1920 г. </a:t>
            </a:r>
            <a:endParaRPr lang="ru-RU" sz="3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68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анае гурзэ Ураськин">
            <a:hlinkClick r:id="" action="ppaction://media"/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797300"/>
            <a:ext cx="406400" cy="406400"/>
          </a:xfrm>
        </p:spPr>
      </p:pic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анае гурзэ Ураськин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540042" y="365125"/>
            <a:ext cx="8941870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>
                <a:solidFill>
                  <a:srgbClr val="000000"/>
                </a:solidFill>
                <a:latin typeface="-apple-system"/>
              </a:rPr>
              <a:t>Анае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гурзэ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эстэм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, дыр, 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но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Муръётӥз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ӵыныз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потэ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, дыр,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Корказь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выжыяз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потэм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, дыр, 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но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>
                <a:solidFill>
                  <a:srgbClr val="000000"/>
                </a:solidFill>
                <a:latin typeface="-apple-system"/>
              </a:rPr>
              <a:t>Пие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бертэ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шуэ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, дыр.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/>
            </a:r>
            <a:br>
              <a:rPr lang="ru-RU" sz="2600" dirty="0">
                <a:solidFill>
                  <a:srgbClr val="000000"/>
                </a:solidFill>
                <a:latin typeface="-apple-system"/>
              </a:rPr>
            </a:b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	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Дядие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ӵукна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султэм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, дыр, но</a:t>
            </a:r>
            <a:r>
              <a:rPr lang="ru-RU" sz="2600" dirty="0" smtClean="0"/>
              <a:t/>
            </a:r>
            <a:br>
              <a:rPr lang="ru-RU" sz="2600" dirty="0" smtClean="0"/>
            </a:br>
            <a:r>
              <a:rPr lang="ru-RU" sz="2600" dirty="0" smtClean="0"/>
              <a:t>	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Тӧри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ужпизэ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кыткем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, дыр,</a:t>
            </a:r>
            <a:r>
              <a:rPr lang="ru-RU" sz="2600" dirty="0" smtClean="0"/>
              <a:t/>
            </a:r>
            <a:br>
              <a:rPr lang="ru-RU" sz="2600" dirty="0" smtClean="0"/>
            </a:br>
            <a:r>
              <a:rPr lang="ru-RU" sz="2600" dirty="0" smtClean="0"/>
              <a:t>	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Букояз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гырлы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думем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, дыр, но,</a:t>
            </a:r>
            <a:r>
              <a:rPr lang="ru-RU" sz="2600" dirty="0" smtClean="0"/>
              <a:t/>
            </a:r>
            <a:br>
              <a:rPr lang="ru-RU" sz="2600" dirty="0" smtClean="0"/>
            </a:br>
            <a:r>
              <a:rPr lang="ru-RU" sz="2600" dirty="0" smtClean="0"/>
              <a:t>	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Пиме ваё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шуэ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, дыр.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/>
            </a:r>
            <a:br>
              <a:rPr lang="ru-RU" sz="2600" dirty="0">
                <a:solidFill>
                  <a:srgbClr val="000000"/>
                </a:solidFill>
                <a:latin typeface="-apple-system"/>
              </a:rPr>
            </a:br>
            <a:r>
              <a:rPr lang="ru-RU" sz="2600" dirty="0">
                <a:solidFill>
                  <a:srgbClr val="000000"/>
                </a:solidFill>
                <a:latin typeface="-apple-system"/>
              </a:rPr>
              <a:t>Сузэре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ӵукна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султэм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, дыр, но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Чильпам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ӝӧкшэтсэ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вӧлдэм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, дыр.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Укнозэ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усьтыса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учке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, дыр, но,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Агай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бертэ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шуэ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, 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дыр.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/>
            </a:r>
            <a:br>
              <a:rPr lang="ru-RU" sz="2600" dirty="0">
                <a:solidFill>
                  <a:srgbClr val="000000"/>
                </a:solidFill>
                <a:latin typeface="-apple-system"/>
              </a:rPr>
            </a:b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	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Выны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ӵукна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султэм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, дыр, но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 smtClean="0"/>
              <a:t>	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Шудон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арганзэ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кутэм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, дыр,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 smtClean="0"/>
              <a:t>	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Капка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выжыяз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потэм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, дыр, 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но</a:t>
            </a: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 smtClean="0"/>
              <a:t>	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Агае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>
                <a:solidFill>
                  <a:srgbClr val="000000"/>
                </a:solidFill>
                <a:latin typeface="-apple-system"/>
              </a:rPr>
              <a:t>бертэ</a:t>
            </a:r>
            <a:r>
              <a:rPr lang="ru-RU" sz="2600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ru-RU" sz="2600" dirty="0" err="1" smtClean="0">
                <a:solidFill>
                  <a:srgbClr val="000000"/>
                </a:solidFill>
                <a:latin typeface="-apple-system"/>
              </a:rPr>
              <a:t>шуэ</a:t>
            </a:r>
            <a:r>
              <a:rPr lang="ru-RU" sz="2600" dirty="0" smtClean="0">
                <a:solidFill>
                  <a:srgbClr val="000000"/>
                </a:solidFill>
                <a:latin typeface="-apple-system"/>
              </a:rPr>
              <a:t>, дыр.</a:t>
            </a:r>
            <a:endParaRPr lang="ru-RU" sz="2600" dirty="0"/>
          </a:p>
          <a:p>
            <a:endParaRPr lang="ru-RU" sz="2600" dirty="0">
              <a:solidFill>
                <a:srgbClr val="000000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7214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2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6020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93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57162" y="365125"/>
            <a:ext cx="1035678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6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9600" b="1" dirty="0" err="1" smtClean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Пумиськытозь</a:t>
            </a:r>
            <a:r>
              <a:rPr lang="ru-RU" sz="9600" b="1" dirty="0" smtClean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pPr algn="ctr"/>
            <a:r>
              <a:rPr lang="ru-RU" sz="9600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 встречи!</a:t>
            </a:r>
            <a:endParaRPr lang="ru-RU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81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807</Words>
  <Application>Microsoft Office PowerPoint</Application>
  <PresentationFormat>Широкоэкранный</PresentationFormat>
  <Paragraphs>87</Paragraphs>
  <Slides>20</Slides>
  <Notes>0</Notes>
  <HiddenSlides>0</HiddenSlides>
  <MMClips>2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-apple-system</vt:lpstr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ЛЮБОВЬ</dc:creator>
  <cp:lastModifiedBy>ЛЮБОВЬ</cp:lastModifiedBy>
  <cp:revision>41</cp:revision>
  <dcterms:created xsi:type="dcterms:W3CDTF">2026-02-06T19:41:17Z</dcterms:created>
  <dcterms:modified xsi:type="dcterms:W3CDTF">2026-02-24T19:51:26Z</dcterms:modified>
</cp:coreProperties>
</file>