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314" r:id="rId3"/>
    <p:sldId id="299" r:id="rId4"/>
    <p:sldId id="298" r:id="rId5"/>
    <p:sldId id="309" r:id="rId6"/>
    <p:sldId id="302" r:id="rId7"/>
    <p:sldId id="310" r:id="rId8"/>
    <p:sldId id="320" r:id="rId9"/>
    <p:sldId id="323" r:id="rId10"/>
    <p:sldId id="311" r:id="rId11"/>
    <p:sldId id="312" r:id="rId12"/>
    <p:sldId id="313" r:id="rId13"/>
    <p:sldId id="315" r:id="rId14"/>
    <p:sldId id="316" r:id="rId15"/>
    <p:sldId id="319" r:id="rId16"/>
    <p:sldId id="318" r:id="rId17"/>
    <p:sldId id="317" r:id="rId18"/>
    <p:sldId id="321" r:id="rId19"/>
    <p:sldId id="307" r:id="rId20"/>
    <p:sldId id="324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0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9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7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83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42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81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67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81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64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67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C59B4-4FE7-469F-B0DC-FF65D850E804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00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93533" y="596767"/>
            <a:ext cx="10019899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ttps://sun9-55.userapi.com/s/v1/ig2/_VT3HdvQLjBRyKy3Dzn0VJ_qfwZNd8xgKUFcR5FNSfLIIPkmBsBKxYCGg68zvlh24z8UQZkyafLkz8jeQLtIbPpA.jpg?quality=96&amp;as=32x54,48x81,72x122,108x183,160x271,240x406,360x609,473x800&amp;from=bu&amp;cs=473x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907" y="826957"/>
            <a:ext cx="3369034" cy="569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600507" y="596767"/>
            <a:ext cx="7075400" cy="7729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Разговорный клуб </a:t>
            </a:r>
            <a:r>
              <a:rPr lang="ru-RU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удмуртского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5400" b="1" dirty="0" smtClean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5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</a:t>
            </a:r>
            <a:r>
              <a:rPr lang="ru-RU" sz="5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Петров. Италмас.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36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36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 </a:t>
            </a:r>
            <a:r>
              <a:rPr lang="ru-RU" sz="36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южтолэзь</a:t>
            </a:r>
            <a:r>
              <a:rPr lang="ru-RU" sz="3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2026 ар</a:t>
            </a:r>
            <a:endParaRPr lang="ru-RU" sz="3600" b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5400" b="1" dirty="0" smtClean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b="1" dirty="0" smtClean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b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32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82804" y="365125"/>
            <a:ext cx="9529010" cy="11062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Подстрочный перевод, выразительное чтение: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мынам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шундые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мынам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омыре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мынам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жильырт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сь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ошмесэ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мынам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бурдъёсы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Шудоесь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синъёсы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Сюлэмам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яратон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пиосмы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мынам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ваньбуре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Тон мынам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шудбуре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Улонам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паймымон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крезьгуре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5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5400" b="1" u="sng" dirty="0" smtClean="0">
                <a:solidFill>
                  <a:srgbClr val="C00000"/>
                </a:solidFill>
              </a:rPr>
              <a:t> </a:t>
            </a:r>
            <a:endParaRPr lang="ru-RU" sz="5400" b="1" u="sng" dirty="0" smtClean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5" t="2933" r="23671" b="2050"/>
          <a:stretch/>
        </p:blipFill>
        <p:spPr bwMode="auto">
          <a:xfrm flipH="1">
            <a:off x="190448" y="108292"/>
            <a:ext cx="1397894" cy="141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25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8641" y="596767"/>
            <a:ext cx="10664792" cy="2500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14838" y="365125"/>
            <a:ext cx="7998596" cy="6090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8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Михаил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Петрович Петров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удмуртский поэт,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прозаик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драматург, теоретик литературы, «собиратель духовного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богатства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своего народа, знаток его этнографии, психологии,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исторических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культурных традиций» [Богомолова 2001а: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6]. Он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 только автор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стихов, пьес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рассказов, очерков, романов, но и переводчик шедевров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литературы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Шекспира, Гете,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Пушкина, Лермонтова, Крылова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Некрасова,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Тургенева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Толстого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Блока,</a:t>
            </a:r>
            <a:r>
              <a:rPr lang="ru-RU" sz="2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Бальмонта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Тютчева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Твардовского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Шолохова, М. </a:t>
            </a:r>
            <a:r>
              <a:rPr lang="ru-RU" sz="2600" dirty="0" err="1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Джалиля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также поэтических эпосов – «Слово о полку Игореве»,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«Давид</a:t>
            </a:r>
            <a:r>
              <a:rPr lang="ru-RU" sz="2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Сасунский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», «Калевала». </a:t>
            </a:r>
            <a:endParaRPr lang="ru-RU" sz="2600" dirty="0" smtClean="0">
              <a:solidFill>
                <a:srgbClr val="34343C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творчество – это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художественная</a:t>
            </a:r>
            <a:r>
              <a:rPr lang="ru-RU" sz="26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летопись 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жизни удмуртского </a:t>
            </a:r>
            <a:r>
              <a:rPr lang="ru-RU" sz="2600" dirty="0" smtClean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народа</a:t>
            </a:r>
            <a:r>
              <a:rPr lang="ru-RU" sz="26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4" descr="undef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96" y="1236702"/>
            <a:ext cx="2666676" cy="354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95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8641" y="596767"/>
            <a:ext cx="10664792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26156" y="365125"/>
            <a:ext cx="1037683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6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 Петров родился </a:t>
            </a:r>
            <a:r>
              <a:rPr lang="ru-RU" sz="26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(21) ноября 1905 года</a:t>
            </a:r>
            <a:r>
              <a:rPr lang="ru-RU" sz="2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ru-RU" sz="2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деревне </a:t>
            </a:r>
            <a:r>
              <a:rPr lang="ru-RU" sz="2600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Монашево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Вятской губернии.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6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1923 году</a:t>
            </a:r>
            <a:r>
              <a:rPr lang="ru-RU" sz="2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окончил областную совпартшколу и был направлен в военную школу в Ульяновск.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6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1928 году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начал печататься на страницах газеты «</a:t>
            </a:r>
            <a:r>
              <a:rPr lang="ru-RU" sz="2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Гудыри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(первые рассказы, стихотворения о Красной Армии и ряд частушек).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1933 году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работал корреспондентом в издании «Удмурт коммуна» и </a:t>
            </a:r>
            <a:r>
              <a:rPr lang="ru-RU" sz="2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журнале 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«Молот», был одним из организаторов Союза писателей Удмуртии.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1941 году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ушёл добровольцем на </a:t>
            </a:r>
            <a:r>
              <a:rPr lang="ru-RU" sz="2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фронт.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6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послевоенные годы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был директором Удмуртского </a:t>
            </a:r>
            <a:r>
              <a:rPr lang="ru-RU" sz="26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госиздательства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(1945–1947), председателем правления Союза писателей Удмуртии (1950–1952), редактором журнала «Молот».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Писатель скоропостижно скончался </a:t>
            </a:r>
            <a:endParaRPr lang="ru-RU" sz="2600" b="1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b="1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 </a:t>
            </a:r>
            <a:r>
              <a:rPr lang="ru-RU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октября 1955 года</a:t>
            </a:r>
            <a:r>
              <a:rPr lang="ru-RU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6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333333"/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426840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789" y="1825625"/>
            <a:ext cx="2362421" cy="4351338"/>
          </a:xfrm>
        </p:spPr>
      </p:pic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93533" y="596767"/>
            <a:ext cx="10019899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42612" y="452387"/>
            <a:ext cx="7526154" cy="553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28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42612" y="549637"/>
            <a:ext cx="7311187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800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Поэма «Италмас» </a:t>
            </a:r>
            <a:r>
              <a:rPr lang="ru-RU" sz="28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написана в 1938 году, </a:t>
            </a:r>
            <a:endParaRPr lang="ru-RU" sz="2800" dirty="0" smtClean="0">
              <a:solidFill>
                <a:srgbClr val="333333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800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ru-RU" sz="28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основе — удмуртская народная легенда о </a:t>
            </a:r>
            <a:r>
              <a:rPr lang="ru-RU" sz="2800" dirty="0" smtClean="0">
                <a:solidFill>
                  <a:srgbClr val="333333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девушке-цветке Италмас.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(Италмас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удмуртское название купальницы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европейской)	</a:t>
            </a: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В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одном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 писем М.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Петров пишет: «На днях я прочёл «Незабудку»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М.Лермонтова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Вспомнил удмуртскую легенду наших краев об «Италмас»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сяська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решил написать».</a:t>
            </a: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Поэма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написана на удмуртском языке, известна читателю в переводе на русский язык Владимира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Семакина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/>
              <a:t> </a:t>
            </a:r>
          </a:p>
          <a:p>
            <a:r>
              <a:rPr lang="ru-RU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Художник: Э. Морозов</a:t>
            </a:r>
            <a:endParaRPr lang="ru-RU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61" y="1005744"/>
            <a:ext cx="2835684" cy="522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4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978240" y="1203158"/>
            <a:ext cx="437555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основе поэмы «Италмас» </a:t>
            </a:r>
            <a:endParaRPr lang="ru-RU" sz="3600" dirty="0" smtClean="0">
              <a:solidFill>
                <a:srgbClr val="333333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3600" dirty="0" smtClean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1962 году </a:t>
            </a:r>
            <a:r>
              <a:rPr lang="ru-RU" sz="3600" dirty="0" smtClean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композитором </a:t>
            </a:r>
          </a:p>
          <a:p>
            <a:r>
              <a:rPr lang="ru-RU" sz="3600" dirty="0" smtClean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</a:t>
            </a: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М. </a:t>
            </a:r>
            <a:r>
              <a:rPr lang="ru-RU" sz="3600" dirty="0" err="1" smtClean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Корепановым</a:t>
            </a:r>
            <a:r>
              <a:rPr lang="ru-RU" sz="3600" dirty="0" smtClean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-Камским был создан </a:t>
            </a:r>
          </a:p>
          <a:p>
            <a:r>
              <a:rPr lang="ru-RU" sz="3600" dirty="0" smtClean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первый </a:t>
            </a:r>
            <a:r>
              <a:rPr lang="ru-RU" sz="3600" dirty="0">
                <a:solidFill>
                  <a:srgbClr val="33333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удмуртский балет «Италмас». 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udmtv.ru/upload/iblock/d4a/d4a4a2f23c9cb4c337501476f4cb199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47" y="1203158"/>
            <a:ext cx="6068689" cy="418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69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93533" y="596767"/>
            <a:ext cx="10019899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Легенда Италмас (пятая часть)   - 85272136909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05"/>
          <a:stretch/>
        </p:blipFill>
        <p:spPr bwMode="auto">
          <a:xfrm>
            <a:off x="978567" y="840049"/>
            <a:ext cx="5212519" cy="535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042612" y="452387"/>
            <a:ext cx="7526154" cy="553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2800" dirty="0">
                <a:solidFill>
                  <a:srgbClr val="34343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42612" y="549637"/>
            <a:ext cx="7311187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 </a:t>
            </a:r>
          </a:p>
          <a:p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331453" y="1005744"/>
            <a:ext cx="5507621" cy="475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Италмас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Всех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пригожей она </a:t>
            </a:r>
            <a:endParaRPr lang="ru-RU" sz="28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средь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подружек была,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Всем – и статью, и нравом веселым взяла.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Только вскинет она, черноглазая, взгляд, -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 и кажется – птицами брови взлетят.</a:t>
            </a:r>
          </a:p>
        </p:txBody>
      </p:sp>
    </p:spTree>
    <p:extLst>
      <p:ext uri="{BB962C8B-B14F-4D97-AF65-F5344CB8AC3E}">
        <p14:creationId xmlns:p14="http://schemas.microsoft.com/office/powerpoint/2010/main" val="351578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45406" y="616016"/>
            <a:ext cx="10693668" cy="5849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вылысь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сяськалэсь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чебер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будэм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Синъёсыз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кык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сь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дэсь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сутэръёс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вылэм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Бамъёсыз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кык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чебер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ыжытэсь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улмоос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Чупамон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мусоесь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чебересь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ымдураз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ыжытэз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пы</a:t>
            </a:r>
            <a:r>
              <a:rPr lang="ru-RU" sz="4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амын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кисьмам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узылэн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Куараез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тулыс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уй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ru-RU" sz="4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ылэн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вылэм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мусо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нылмылэн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6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05037" y="365125"/>
            <a:ext cx="10747409" cy="5638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Ву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дуре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васькыкуз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40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ӧ</a:t>
            </a:r>
            <a:r>
              <a:rPr lang="ru-RU" sz="4000" b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дьы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кожалод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сярысь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малпаса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егитъёс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лулскыло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Лобымон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бурдъяськем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ваёбыжпиослэн</a:t>
            </a: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Бурдъёссы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выллемесь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синкашъёс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ныллэн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Нош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сутэр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синъёссэ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синлысэн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ватэ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Синкашъёс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кутонтэм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лобозы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кадь </a:t>
            </a:r>
            <a:r>
              <a:rPr lang="ru-RU" sz="4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потэ</a:t>
            </a: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67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04185" y="211756"/>
            <a:ext cx="8566483" cy="6926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Кемалась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кемалась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вашкала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дыръёсы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Зундэсъёс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чигвесьёс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кылдылон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аръёсы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Сяськаясь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льӧмпуо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Вало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шур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кожъёсын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Сутэрен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данъяськись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Вожой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шур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кожъёсын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Оло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нош,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кыдёкысь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Чупчилэн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йылъёсаз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Оло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нош,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Туймылэн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вӧлмытэсь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возьёсаз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вордӥськем Италмас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Словно гром отдалённый, в столетьях живёт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Незапамятный век, незапамятный год.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Средь черёмух, что пышно цветут над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Валой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там, где смородиной пахнет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Вожой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Близ Чепцы иль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Туймы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неизвестно для нас –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незапамятный день, в незапамятный час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родилась Италмас.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79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20793" y="221381"/>
            <a:ext cx="7623208" cy="691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Одӥг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пол Италмас ас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ёзо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нылъёсын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Эмезян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мынэм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кыдёкысь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нюлэскы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Нырысьсэ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ваче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пумиськем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отын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Тодымтэ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сьӧр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пиен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эмезё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куак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пӧлын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Оло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пи,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оло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ныл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кужмогес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ӵыжектэ: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Яратон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озьы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сюлэмез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кенжытэ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кысонтэм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тылӟытэ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воскресенье она, вместе с ровней своей,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малину пошла. Там и встретился ей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Незнакомый тот парень, кудрявый, как клён,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(Был, видать, из селенья соседского он).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из них из двоих застыдился сильней?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Чей румянец средь зелени вспыхнул алей?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То неведомо ей.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18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13735" y="192505"/>
            <a:ext cx="7340065" cy="674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Егитъёс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султӥзы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котырен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шудыны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Ӧтизы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Ладиез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котыре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султыны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Шудонъя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нылэн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пи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ваче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вуизы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Киоссы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соослэн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тылӝутэк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ӝуазы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Италмас –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тӧдьы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юсь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казак пи – луд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быркыт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Кужмо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луд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быркыт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юсез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бен уз кут!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понна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быркыт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Молодёжь на лугу веселится, поёт.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Вот зовут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Камаша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ведут в хоровод…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не знает, когда лишь почувствовал, как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Руки милые сжал в молодецких руках.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Застыдилась и вырвалась девушка вдруг.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спеши, не уйдешь от него, от подруг,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коли вышла ты в круг!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AutoShape 4" descr="C:\Users\%D0%9B%D0%AE%D0%91%D0%9E%D0%92%D0%AC\Desktop\i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5" y="816560"/>
            <a:ext cx="2884626" cy="511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5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61860" y="240632"/>
            <a:ext cx="7458775" cy="6787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Егитъёс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возь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вылтӥ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шур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выллань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тубизы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Сьӧръёсты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данъяса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кырӟаса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келязы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Ладиен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Италмас кож доры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кылизы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Мур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кожлэн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льӧмпуо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салкымаз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пуксизы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Кылзӥзы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улыны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кӧня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ар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сӥземзэ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йырвизез</a:t>
            </a:r>
            <a:r>
              <a:rPr 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сурамзэ</a:t>
            </a:r>
            <a:r>
              <a:rPr lang="ru-RU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Молодёжь поднимается вверх по реке.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Вот уже никого не видать вдалеке.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нарочно ли их оставляют вдвоём,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черёмуха дремлет, глядясь в водоём?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Услыхали кукушку они ввечеру.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кукушка ленилась, видать, не к добру,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где-то в дальнем бору.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19609"/>
          <a:stretch/>
        </p:blipFill>
        <p:spPr>
          <a:xfrm>
            <a:off x="301659" y="1453416"/>
            <a:ext cx="3333484" cy="382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6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63555" y="231007"/>
            <a:ext cx="7180446" cy="6907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«Я,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ӟеч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лу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!» 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«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Ӧжыт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вить –ай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татын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дыдые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салам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бичало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ӵуж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зарни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сяськаез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Кож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вамен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пуӵ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вылтӥ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шур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сьӧры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выжыса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Сяськаос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октылэ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казак пи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дыртыса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Ортчыт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ӵем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будӥллям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бен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татын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сяськаос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Гажанлы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кузьманы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ӝужаллям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дыр,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чебересь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зарниос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«Ну, прощай!» - «Дорогая, постой, не спеши!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Посмотри, как цветы за рекой хороши!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 нарву тебе их». Он спешит за реку,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кукушка своё позабыла «ку-ку».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Ой, как много цветов расцвело золотых,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Чтобы, радуясь, рвали влюбленные их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для подруг дорогих.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8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870960" y="182880"/>
            <a:ext cx="7342471" cy="7404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Тани пи но салам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сяськаен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ни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лыктэ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Ныл доры та пала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выжыны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дыртэ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Ой,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татын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дыр,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вылэм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адӟонэз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пимылэн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усиз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лек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тӧлын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погыртэм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кыпылэн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Ву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пыдсысь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ӵог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выллем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урдӥськем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ул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вылаз,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выиз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мур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кожлэн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зӥр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бергась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мур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вуаз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люкиськиз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даураз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Возвращается молодец с ношей цветов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пригнувшимся  жердочкам. Вдруг из кустов,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Словно молния, парня настигла стрела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предательски в самое сердце вошла.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Покачнулся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Камаш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застыл, недвижим.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стоит на лугу и прощается с ним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светлым взглядом своим.</a:t>
            </a:r>
          </a:p>
          <a:p>
            <a:r>
              <a:rPr lang="ru-RU" sz="2500" dirty="0"/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5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04" y="972998"/>
            <a:ext cx="2812928" cy="499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896177" y="211757"/>
            <a:ext cx="7247823" cy="6926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Куректон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кайгуэз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-а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кылын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вералод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сярысь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калыкын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ӝож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гуръёс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кылдыло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Гажанзэ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утчаса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ӝытъёсын Италмас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Бӧрдыса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васькылэм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возь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вылэ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одӥгназ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Ӝож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гуръёс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кырӟаса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кож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дурын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сылылэм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Шур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дуртӥ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ветлыса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туж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уно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тэльмырем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ru-RU" sz="2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гажанзэ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ӧтьылэм</a:t>
            </a:r>
            <a:r>
              <a:rPr lang="ru-RU" sz="2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Жив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поныне в народе старинный напев.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нем – обида и ненависть, горе и гнев.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поют гусляры, как в бесчисленный раз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Приходила на мыс горевать Италмас,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Приходила, стояла, рыдала одна.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былую любовь у реки допоздна</a:t>
            </a: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окликала она.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3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07419" y="635267"/>
            <a:ext cx="8354728" cy="5930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Через год, лишь луга зацвели у реки,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Италмас свою боль заплетает в венки</a:t>
            </a:r>
            <a:r>
              <a:rPr lang="ru-RU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Ей казалось, что ал её новый букет,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 цветы были те ж – сплошь лазоревый цвет.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Цвет разлуки. </a:t>
            </a:r>
            <a:r>
              <a:rPr lang="ru-RU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Удмурты </a:t>
            </a: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зовут и сейчас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Их тугие бутоны цветком Италмас,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 горя не ведать, не знать маеты,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возлюбленных рвут там, где травы густы,</a:t>
            </a:r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ru-RU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голубые </a:t>
            </a: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цветы</a:t>
            </a:r>
            <a:r>
              <a:rPr lang="ru-RU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7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29903" y="365125"/>
            <a:ext cx="10674417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Ку </a:t>
            </a:r>
            <a:r>
              <a:rPr lang="ru-RU" sz="4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(когда) 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вордӥськем Италмас</a:t>
            </a: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(где) 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вордӥськем Италмас 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пумиськем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Италмас 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сьӧр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пиен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Кызьы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(как) 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нимыз 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сьӧр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пилэн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Кы</a:t>
            </a:r>
            <a: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sz="4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(на каких)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тылобурдоослы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кельшо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Италмас но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Лади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Кытын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пукизы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егитъёс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Кы</a:t>
            </a:r>
            <a:r>
              <a:rPr lang="ru-RU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sz="4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(какой) 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салам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бичаз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пияш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налашлы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4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(что)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луиз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пиен</a:t>
            </a:r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ru-RU" sz="3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ru-RU" sz="3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карылэм</a:t>
            </a:r>
            <a:r>
              <a:rPr lang="ru-RU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(что делала) </a:t>
            </a:r>
            <a:r>
              <a:rPr lang="ru-RU" sz="3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ӝытъёсын Италмас?</a:t>
            </a:r>
            <a:endParaRPr lang="ru-RU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08129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Туннэ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</a:t>
            </a: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тод</a:t>
            </a:r>
            <a:r>
              <a:rPr lang="ru-RU" sz="8000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endParaRPr lang="ru-RU" sz="8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8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…, …, …</a:t>
            </a:r>
          </a:p>
          <a:p>
            <a:pPr algn="ctr"/>
            <a:r>
              <a:rPr lang="ru-RU" sz="8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8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ыль</a:t>
            </a:r>
            <a:r>
              <a:rPr lang="ru-RU" sz="8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кылъёсты</a:t>
            </a:r>
            <a:r>
              <a:rPr lang="ru-RU" sz="8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81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6000" b="1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Тау</a:t>
            </a:r>
            <a:r>
              <a:rPr lang="ru-RU" sz="60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ужамды</a:t>
            </a:r>
            <a:r>
              <a:rPr lang="ru-RU" sz="60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понна</a:t>
            </a:r>
            <a:r>
              <a:rPr lang="ru-RU" sz="60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6000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9600" b="1" dirty="0" err="1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Пумиськытозь</a:t>
            </a:r>
            <a:r>
              <a:rPr lang="ru-RU" sz="9600" b="1" dirty="0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algn="ctr"/>
            <a:r>
              <a:rPr lang="ru-RU" sz="96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 встречи!</a:t>
            </a:r>
            <a:endParaRPr lang="ru-RU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92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1411</Words>
  <Application>Microsoft Office PowerPoint</Application>
  <PresentationFormat>Широкоэкранный</PresentationFormat>
  <Paragraphs>213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</dc:creator>
  <cp:lastModifiedBy>ЛЮБОВЬ</cp:lastModifiedBy>
  <cp:revision>62</cp:revision>
  <dcterms:created xsi:type="dcterms:W3CDTF">2026-02-06T19:41:17Z</dcterms:created>
  <dcterms:modified xsi:type="dcterms:W3CDTF">2026-03-10T10:47:18Z</dcterms:modified>
</cp:coreProperties>
</file>